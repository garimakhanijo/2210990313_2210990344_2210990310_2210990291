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256" r:id="rId5"/>
    <p:sldId id="257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280" r:id="rId18"/>
    <p:sldId id="268" r:id="rId19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51" y="18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Back End Engineering Project</a:t>
            </a:r>
            <a:r>
              <a:rPr lang="en-IN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(</a:t>
            </a:r>
            <a:r>
              <a:rPr lang="en-IN" b="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BEE</a:t>
            </a:r>
            <a:r>
              <a:rPr lang="en-IN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) (</a:t>
            </a:r>
            <a:r>
              <a:rPr lang="en-IN" b="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22CS026</a:t>
            </a:r>
            <a:r>
              <a:rPr lang="en-IN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)</a:t>
            </a:r>
            <a:endParaRPr lang="en-IN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4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&lt;Title of the Project&gt;</a:t>
            </a:r>
            <a:endParaRPr lang="en-US" sz="2000" i="1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&lt;Name of the Student&gt;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&lt;Ro</a:t>
            </a: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ll Number&gt;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&lt;Name of the Mentor/Team Lead/Manager&gt;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C7E41B-3020-D6B8-F4B6-AD7341CCCEBF}"/>
              </a:ext>
            </a:extLst>
          </p:cNvPr>
          <p:cNvSpPr txBox="1"/>
          <p:nvPr/>
        </p:nvSpPr>
        <p:spPr>
          <a:xfrm>
            <a:off x="459802" y="226104"/>
            <a:ext cx="20358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Contents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0258B3-5397-043D-F642-12BFDA466673}"/>
              </a:ext>
            </a:extLst>
          </p:cNvPr>
          <p:cNvSpPr txBox="1"/>
          <p:nvPr/>
        </p:nvSpPr>
        <p:spPr>
          <a:xfrm>
            <a:off x="1131606" y="1431884"/>
            <a:ext cx="5869556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sz="2400" dirty="0"/>
              <a:t>Introduction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400" dirty="0"/>
              <a:t>Problem Statement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400" dirty="0"/>
              <a:t>Objective of the Study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400" dirty="0"/>
              <a:t>Label Noise (Symmetric &amp; Asymmetric)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400" dirty="0"/>
              <a:t>Datasets Used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400" dirty="0"/>
              <a:t>Machine Learning Models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400" dirty="0"/>
              <a:t>Methodology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400" dirty="0"/>
              <a:t>Performance Metrics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400" dirty="0"/>
              <a:t>Results &amp; Analysis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400" dirty="0"/>
              <a:t>Comparison of Models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400" dirty="0"/>
              <a:t>Conclusion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400" dirty="0"/>
              <a:t>Future Scope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C371930-9F83-726B-EA3B-2E75C4FCD478}"/>
              </a:ext>
            </a:extLst>
          </p:cNvPr>
          <p:cNvSpPr txBox="1"/>
          <p:nvPr/>
        </p:nvSpPr>
        <p:spPr>
          <a:xfrm>
            <a:off x="398106" y="186612"/>
            <a:ext cx="2573140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/>
              <a:t>Introduction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B46ED2-A30D-AA89-5C1C-906E4F69136B}"/>
              </a:ext>
            </a:extLst>
          </p:cNvPr>
          <p:cNvSpPr txBox="1"/>
          <p:nvPr/>
        </p:nvSpPr>
        <p:spPr>
          <a:xfrm>
            <a:off x="398106" y="1629776"/>
            <a:ext cx="8249374" cy="40626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Machine learning models depend on correct training data</a:t>
            </a:r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In real-world datasets, labels are often incorrect</a:t>
            </a:r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These errors are called </a:t>
            </a:r>
            <a:r>
              <a:rPr lang="en-US" sz="2400" b="1" dirty="0"/>
              <a:t>label noise</a:t>
            </a:r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Label noise affects how well a model learns</a:t>
            </a:r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This study checks how different models behave under </a:t>
            </a:r>
          </a:p>
          <a:p>
            <a:r>
              <a:rPr lang="en-US" sz="2400" dirty="0"/>
              <a:t>    such conditions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262677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4CF1A26-6E97-FDA9-4631-1B6969E83E0C}"/>
              </a:ext>
            </a:extLst>
          </p:cNvPr>
          <p:cNvSpPr txBox="1"/>
          <p:nvPr/>
        </p:nvSpPr>
        <p:spPr>
          <a:xfrm>
            <a:off x="248816" y="155510"/>
            <a:ext cx="499498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Problem Statement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E52D02-AC87-269F-FF80-C91D425DD6D4}"/>
              </a:ext>
            </a:extLst>
          </p:cNvPr>
          <p:cNvSpPr txBox="1"/>
          <p:nvPr/>
        </p:nvSpPr>
        <p:spPr>
          <a:xfrm>
            <a:off x="622041" y="1424473"/>
            <a:ext cx="7620000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Real datasets are not always perfectly labeled</a:t>
            </a:r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Models trained on wrong labels learn incorrect patterns</a:t>
            </a:r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This leads to poor predictions</a:t>
            </a:r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Not all models react the same way to noisy data</a:t>
            </a:r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Need to identify which models handle noise better</a:t>
            </a:r>
          </a:p>
          <a:p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195227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14E1A7B-E0F3-EE73-1ECD-735B5C60B199}"/>
              </a:ext>
            </a:extLst>
          </p:cNvPr>
          <p:cNvSpPr txBox="1"/>
          <p:nvPr/>
        </p:nvSpPr>
        <p:spPr>
          <a:xfrm>
            <a:off x="230154" y="180392"/>
            <a:ext cx="4507965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/>
              <a:t>Objective of the Study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46DDF2-5A94-63FC-1B1C-788FA0B3AFD6}"/>
              </a:ext>
            </a:extLst>
          </p:cNvPr>
          <p:cNvSpPr txBox="1"/>
          <p:nvPr/>
        </p:nvSpPr>
        <p:spPr>
          <a:xfrm>
            <a:off x="597161" y="1729303"/>
            <a:ext cx="7704353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Study how models perform when labels are incorrect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Compare different machine learning models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Analyze impact of different types of noise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Evaluate performance using proper metrics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Find models that remain stable under noise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169914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15009F1-DD56-50FA-B28C-AAEFD5A8D3DE}"/>
              </a:ext>
            </a:extLst>
          </p:cNvPr>
          <p:cNvSpPr txBox="1"/>
          <p:nvPr/>
        </p:nvSpPr>
        <p:spPr>
          <a:xfrm>
            <a:off x="279918" y="155510"/>
            <a:ext cx="4919937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/>
              <a:t>Overview of Label Noise</a:t>
            </a:r>
          </a:p>
          <a:p>
            <a:br>
              <a:rPr lang="en-IN" dirty="0"/>
            </a:b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B3BC55-8F3C-DD47-A12A-AA09AC9D668A}"/>
              </a:ext>
            </a:extLst>
          </p:cNvPr>
          <p:cNvSpPr txBox="1"/>
          <p:nvPr/>
        </p:nvSpPr>
        <p:spPr>
          <a:xfrm>
            <a:off x="814873" y="1816359"/>
            <a:ext cx="7401385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Label noise = incorrect or misleading labels in data</a:t>
            </a:r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It affects the learning process directly</a:t>
            </a:r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Two main types: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dirty="0"/>
              <a:t>Symmetric noise</a:t>
            </a:r>
            <a:r>
              <a:rPr lang="en-US" sz="2400" dirty="0"/>
              <a:t> → random errors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dirty="0"/>
              <a:t>Asymmetric noise</a:t>
            </a:r>
            <a:r>
              <a:rPr lang="en-US" sz="2400" dirty="0"/>
              <a:t> → structured errors</a:t>
            </a:r>
          </a:p>
          <a:p>
            <a:pPr lvl="1"/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Helps simulate real-world imperfect data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641364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D43A32D-3099-D240-B1FC-1618BDD4949F}"/>
              </a:ext>
            </a:extLst>
          </p:cNvPr>
          <p:cNvSpPr txBox="1"/>
          <p:nvPr/>
        </p:nvSpPr>
        <p:spPr>
          <a:xfrm>
            <a:off x="485193" y="143070"/>
            <a:ext cx="3007555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/>
              <a:t>Datasets Used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F421E1-C95C-7956-AEE7-240EB275CDED}"/>
              </a:ext>
            </a:extLst>
          </p:cNvPr>
          <p:cNvSpPr txBox="1"/>
          <p:nvPr/>
        </p:nvSpPr>
        <p:spPr>
          <a:xfrm>
            <a:off x="1548882" y="1474237"/>
            <a:ext cx="5695790" cy="40626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Two datasets were used: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AutoNum type="arabicPeriod"/>
            </a:pPr>
            <a:r>
              <a:rPr lang="en-US" sz="2400" b="1" dirty="0"/>
              <a:t>Breast Cancer </a:t>
            </a:r>
            <a:r>
              <a:rPr lang="en-US" sz="2400" b="1" dirty="0" err="1"/>
              <a:t>Datase</a:t>
            </a:r>
            <a:endParaRPr lang="en-US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Small and clean dataset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Mostly numerical features</a:t>
            </a:r>
            <a:br>
              <a:rPr lang="en-US" sz="2400" dirty="0"/>
            </a:br>
            <a:endParaRPr lang="en-US" sz="2400" dirty="0"/>
          </a:p>
          <a:p>
            <a:r>
              <a:rPr lang="en-US" sz="2400" b="1" dirty="0"/>
              <a:t>2. Adult Income Dataset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Large and complex dataset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Mixed features and class imbalance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Using two datasets improves reliability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0019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21425FF-FB4B-E796-3830-3C4E46AB2206}"/>
              </a:ext>
            </a:extLst>
          </p:cNvPr>
          <p:cNvSpPr txBox="1"/>
          <p:nvPr/>
        </p:nvSpPr>
        <p:spPr>
          <a:xfrm>
            <a:off x="342122" y="143069"/>
            <a:ext cx="5190845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/>
              <a:t>Machine Learning Models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5C5778-252E-CE3E-9733-072EAC0F30D0}"/>
              </a:ext>
            </a:extLst>
          </p:cNvPr>
          <p:cNvSpPr txBox="1"/>
          <p:nvPr/>
        </p:nvSpPr>
        <p:spPr>
          <a:xfrm>
            <a:off x="926841" y="1362268"/>
            <a:ext cx="7129709" cy="4708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Six models were tested: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400" dirty="0"/>
              <a:t>Logistic Regression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400" dirty="0"/>
              <a:t>Decision Tree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400" dirty="0"/>
              <a:t>Random Forest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400" dirty="0"/>
              <a:t>SVM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400" dirty="0"/>
              <a:t>KNN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400" dirty="0" err="1"/>
              <a:t>LightGBM</a:t>
            </a:r>
            <a:br>
              <a:rPr lang="en-US" sz="2400" dirty="0"/>
            </a:b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Each model follows a different learning approach</a:t>
            </a:r>
            <a:br>
              <a:rPr lang="en-US" sz="2400" dirty="0"/>
            </a:b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Helps compare different types of behavior</a:t>
            </a:r>
          </a:p>
          <a:p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58249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CDE0C35-D263-2BB2-A1C2-D72D35331969}"/>
              </a:ext>
            </a:extLst>
          </p:cNvPr>
          <p:cNvSpPr txBox="1"/>
          <p:nvPr/>
        </p:nvSpPr>
        <p:spPr>
          <a:xfrm>
            <a:off x="298580" y="161730"/>
            <a:ext cx="273183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/>
              <a:t>Methodology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2C7B0D-66E0-C673-0CA0-C4506B014C58}"/>
              </a:ext>
            </a:extLst>
          </p:cNvPr>
          <p:cNvSpPr txBox="1"/>
          <p:nvPr/>
        </p:nvSpPr>
        <p:spPr>
          <a:xfrm>
            <a:off x="852196" y="1517780"/>
            <a:ext cx="6361870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Data split into training and testing sets</a:t>
            </a:r>
            <a:br>
              <a:rPr lang="en-US" sz="2400" dirty="0"/>
            </a:b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Noise added only to training labels</a:t>
            </a:r>
            <a:br>
              <a:rPr lang="en-US" sz="2400" dirty="0"/>
            </a:b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Testing done on clean data</a:t>
            </a:r>
            <a:br>
              <a:rPr lang="en-US" sz="2400" dirty="0"/>
            </a:b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Different noise levels: 0%, 10%, 20%, 30%</a:t>
            </a:r>
            <a:br>
              <a:rPr lang="en-US" sz="2400" dirty="0"/>
            </a:b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5-fold cross-validation used for stability</a:t>
            </a:r>
          </a:p>
          <a:p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257662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9FF22A-8557-0B5C-0CF9-BE43640F6268}"/>
              </a:ext>
            </a:extLst>
          </p:cNvPr>
          <p:cNvSpPr txBox="1"/>
          <p:nvPr/>
        </p:nvSpPr>
        <p:spPr>
          <a:xfrm>
            <a:off x="454090" y="143070"/>
            <a:ext cx="424026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/>
              <a:t>Performance Metrics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2369DD-D8E6-F25C-2C29-386B40C289A4}"/>
              </a:ext>
            </a:extLst>
          </p:cNvPr>
          <p:cNvSpPr txBox="1"/>
          <p:nvPr/>
        </p:nvSpPr>
        <p:spPr>
          <a:xfrm>
            <a:off x="1212980" y="1673290"/>
            <a:ext cx="5883342" cy="39087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Accuracy</a:t>
            </a:r>
            <a:endParaRPr lang="en-U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Measures overall correct predictions</a:t>
            </a:r>
            <a:br>
              <a:rPr lang="en-US" sz="2400" dirty="0"/>
            </a:b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F1-score</a:t>
            </a:r>
            <a:endParaRPr lang="en-U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Balances precision and recall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Useful for imbalanced data</a:t>
            </a:r>
            <a:br>
              <a:rPr lang="en-US" sz="2400" dirty="0"/>
            </a:b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Both metrics used for better evaluation</a:t>
            </a:r>
          </a:p>
          <a:p>
            <a:br>
              <a:rPr lang="en-US" sz="2800" dirty="0"/>
            </a:b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2615378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5B00069-DD5F-B8F9-D56D-01C6A1AE9F46}"/>
              </a:ext>
            </a:extLst>
          </p:cNvPr>
          <p:cNvSpPr txBox="1"/>
          <p:nvPr/>
        </p:nvSpPr>
        <p:spPr>
          <a:xfrm>
            <a:off x="311021" y="149290"/>
            <a:ext cx="5533887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/>
              <a:t>Results (Key Observations)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7663A4-9021-C5E0-D010-69E073016585}"/>
              </a:ext>
            </a:extLst>
          </p:cNvPr>
          <p:cNvSpPr txBox="1"/>
          <p:nvPr/>
        </p:nvSpPr>
        <p:spPr>
          <a:xfrm>
            <a:off x="311022" y="1150775"/>
            <a:ext cx="4565777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Performance decreases as noise increases</a:t>
            </a:r>
            <a:br>
              <a:rPr lang="en-US" sz="2400" dirty="0"/>
            </a:b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Symmetric noise affects models more</a:t>
            </a:r>
            <a:br>
              <a:rPr lang="en-US" sz="2400" dirty="0"/>
            </a:b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SVM performs consistently well</a:t>
            </a:r>
            <a:br>
              <a:rPr lang="en-US" sz="2400" dirty="0"/>
            </a:b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Decision Tree performs worst under noise</a:t>
            </a:r>
            <a:br>
              <a:rPr lang="en-US" sz="2400" dirty="0"/>
            </a:b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Results vary across datasets</a:t>
            </a:r>
          </a:p>
          <a:p>
            <a:br>
              <a:rPr lang="en-US" sz="2400" dirty="0"/>
            </a:br>
            <a:endParaRPr lang="en-IN" sz="24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D676C35-C054-DCF8-DE3B-2AE3673BBC6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2087" y="947057"/>
            <a:ext cx="4373724" cy="2743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2E94764-9AC6-A37D-CFEF-5E19FC3FB21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2087" y="3596952"/>
            <a:ext cx="4445000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6256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F816-59EE-928E-B2DF-360510EA0878}"/>
              </a:ext>
            </a:extLst>
          </p:cNvPr>
          <p:cNvSpPr txBox="1"/>
          <p:nvPr/>
        </p:nvSpPr>
        <p:spPr>
          <a:xfrm>
            <a:off x="348343" y="167951"/>
            <a:ext cx="4419800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/>
              <a:t>Accuracy vs F1-score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E3C57A-EC62-EC78-A62A-E3C9B5426AD2}"/>
              </a:ext>
            </a:extLst>
          </p:cNvPr>
          <p:cNvSpPr txBox="1"/>
          <p:nvPr/>
        </p:nvSpPr>
        <p:spPr>
          <a:xfrm>
            <a:off x="920620" y="1524000"/>
            <a:ext cx="6550191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Accuracy may remain stable even with noise</a:t>
            </a:r>
            <a:br>
              <a:rPr lang="en-US" sz="2400" dirty="0"/>
            </a:b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F1-score shows deeper performance drop</a:t>
            </a:r>
            <a:br>
              <a:rPr lang="en-US" sz="2400" dirty="0"/>
            </a:b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Especially important for imbalanced data</a:t>
            </a:r>
            <a:br>
              <a:rPr lang="en-US" sz="2400" dirty="0"/>
            </a:b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Using only accuracy can be misleading</a:t>
            </a:r>
            <a:br>
              <a:rPr lang="en-US" sz="2400" dirty="0"/>
            </a:b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Both metrics should be considered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766114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646565D-0F03-124A-6199-1DEED11E0269}"/>
              </a:ext>
            </a:extLst>
          </p:cNvPr>
          <p:cNvSpPr txBox="1"/>
          <p:nvPr/>
        </p:nvSpPr>
        <p:spPr>
          <a:xfrm>
            <a:off x="311021" y="136850"/>
            <a:ext cx="5556329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/>
              <a:t>Conclusion &amp; Future Scope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A083C8-0032-5068-771F-CD3163F5E7F2}"/>
              </a:ext>
            </a:extLst>
          </p:cNvPr>
          <p:cNvSpPr txBox="1"/>
          <p:nvPr/>
        </p:nvSpPr>
        <p:spPr>
          <a:xfrm>
            <a:off x="1076130" y="1542661"/>
            <a:ext cx="6040436" cy="4708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Label noise reduces model performance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Impact depends on model and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No single model works best in all cases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SVM is strong under random noise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Decision Tree is most sensitive</a:t>
            </a:r>
            <a:br>
              <a:rPr lang="en-US" sz="2400" dirty="0"/>
            </a:br>
            <a:endParaRPr lang="en-US" sz="2400" dirty="0"/>
          </a:p>
          <a:p>
            <a:r>
              <a:rPr lang="en-US" sz="2400" b="1" dirty="0"/>
              <a:t>Future Scope:</a:t>
            </a:r>
            <a:br>
              <a:rPr lang="en-US" sz="2400" b="1" dirty="0"/>
            </a:b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Test more datasets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Study advanced noise-handling methods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Include deep learning models</a:t>
            </a:r>
          </a:p>
          <a:p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20695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5C14AC-FD17-4A5D-5C29-07D602EF490C}"/>
              </a:ext>
            </a:extLst>
          </p:cNvPr>
          <p:cNvSpPr txBox="1"/>
          <p:nvPr/>
        </p:nvSpPr>
        <p:spPr>
          <a:xfrm>
            <a:off x="2649893" y="2979575"/>
            <a:ext cx="394851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dirty="0"/>
              <a:t>Any Questions ?</a:t>
            </a:r>
          </a:p>
        </p:txBody>
      </p:sp>
    </p:spTree>
    <p:extLst>
      <p:ext uri="{BB962C8B-B14F-4D97-AF65-F5344CB8AC3E}">
        <p14:creationId xmlns:p14="http://schemas.microsoft.com/office/powerpoint/2010/main" val="1577031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15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4A62A602-78C1-468C-BB25-57CD481DB741}">
  <ds:schemaRefs>
    <ds:schemaRef ds:uri="http://www.w3.org/XML/1998/namespace"/>
    <ds:schemaRef ds:uri="http://schemas.openxmlformats.org/package/2006/metadata/core-properties"/>
    <ds:schemaRef ds:uri="http://schemas.microsoft.com/office/2006/metadata/properties"/>
    <ds:schemaRef ds:uri="http://purl.org/dc/elements/1.1/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34723</TotalTime>
  <Words>523</Words>
  <Application>Microsoft Office PowerPoint</Application>
  <PresentationFormat>On-screen Show (4:3)</PresentationFormat>
  <Paragraphs>135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Garima khanijo</cp:lastModifiedBy>
  <cp:revision>2297</cp:revision>
  <dcterms:created xsi:type="dcterms:W3CDTF">2010-04-09T07:36:15Z</dcterms:created>
  <dcterms:modified xsi:type="dcterms:W3CDTF">2026-04-27T17:42:10Z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