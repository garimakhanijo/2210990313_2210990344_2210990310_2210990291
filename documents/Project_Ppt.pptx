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81" r:id="rId3"/>
    <p:sldId id="257" r:id="rId4"/>
    <p:sldId id="258" r:id="rId5"/>
    <p:sldId id="282" r:id="rId6"/>
    <p:sldId id="283" r:id="rId7"/>
    <p:sldId id="284" r:id="rId8"/>
    <p:sldId id="288" r:id="rId9"/>
    <p:sldId id="285" r:id="rId10"/>
    <p:sldId id="286" r:id="rId11"/>
    <p:sldId id="287" r:id="rId12"/>
    <p:sldId id="280" r:id="rId13"/>
  </p:sldIdLst>
  <p:sldSz cx="9144000" cy="6858000" type="screen4x3"/>
  <p:notesSz cx="7559675" cy="10691813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noor Dhaliwal" userId="47788067e1523c2d" providerId="LiveId" clId="{66C39910-1B66-4ADF-BC8E-51CFCB6D71BA}"/>
    <pc:docChg chg="custSel modSld">
      <pc:chgData name="Gurnoor Dhaliwal" userId="47788067e1523c2d" providerId="LiveId" clId="{66C39910-1B66-4ADF-BC8E-51CFCB6D71BA}" dt="2026-04-29T04:42:36.671" v="14" actId="20577"/>
      <pc:docMkLst>
        <pc:docMk/>
      </pc:docMkLst>
      <pc:sldChg chg="modSp mod">
        <pc:chgData name="Gurnoor Dhaliwal" userId="47788067e1523c2d" providerId="LiveId" clId="{66C39910-1B66-4ADF-BC8E-51CFCB6D71BA}" dt="2026-04-29T04:42:36.671" v="14" actId="20577"/>
        <pc:sldMkLst>
          <pc:docMk/>
          <pc:sldMk cId="2594171622" sldId="281"/>
        </pc:sldMkLst>
        <pc:spChg chg="mod">
          <ac:chgData name="Gurnoor Dhaliwal" userId="47788067e1523c2d" providerId="LiveId" clId="{66C39910-1B66-4ADF-BC8E-51CFCB6D71BA}" dt="2026-04-29T04:42:36.671" v="14" actId="20577"/>
          <ac:spMkLst>
            <pc:docMk/>
            <pc:sldMk cId="2594171622" sldId="281"/>
            <ac:spMk id="3" creationId="{B89696FF-B9C5-B56A-9A1B-50DCA99CAB71}"/>
          </ac:spMkLst>
        </pc:spChg>
      </pc:sldChg>
      <pc:sldChg chg="modSp mod">
        <pc:chgData name="Gurnoor Dhaliwal" userId="47788067e1523c2d" providerId="LiveId" clId="{66C39910-1B66-4ADF-BC8E-51CFCB6D71BA}" dt="2026-04-28T18:04:06.899" v="4" actId="20577"/>
        <pc:sldMkLst>
          <pc:docMk/>
          <pc:sldMk cId="1946608677" sldId="283"/>
        </pc:sldMkLst>
        <pc:spChg chg="mod">
          <ac:chgData name="Gurnoor Dhaliwal" userId="47788067e1523c2d" providerId="LiveId" clId="{66C39910-1B66-4ADF-BC8E-51CFCB6D71BA}" dt="2026-04-28T18:04:06.899" v="4" actId="20577"/>
          <ac:spMkLst>
            <pc:docMk/>
            <pc:sldMk cId="1946608677" sldId="283"/>
            <ac:spMk id="3" creationId="{A945940A-C18D-544E-1BCE-1BFFE6871A4D}"/>
          </ac:spMkLst>
        </pc:spChg>
      </pc:sldChg>
      <pc:sldChg chg="modSp mod">
        <pc:chgData name="Gurnoor Dhaliwal" userId="47788067e1523c2d" providerId="LiveId" clId="{66C39910-1B66-4ADF-BC8E-51CFCB6D71BA}" dt="2026-04-28T18:01:29.688" v="0" actId="122"/>
        <pc:sldMkLst>
          <pc:docMk/>
          <pc:sldMk cId="330844300" sldId="287"/>
        </pc:sldMkLst>
        <pc:spChg chg="mod">
          <ac:chgData name="Gurnoor Dhaliwal" userId="47788067e1523c2d" providerId="LiveId" clId="{66C39910-1B66-4ADF-BC8E-51CFCB6D71BA}" dt="2026-04-28T18:01:29.688" v="0" actId="122"/>
          <ac:spMkLst>
            <pc:docMk/>
            <pc:sldMk cId="330844300" sldId="287"/>
            <ac:spMk id="2" creationId="{667B1F7A-6FD2-2EE0-8510-9F92B9E33F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7ccfa410_2_10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e67ccfa410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3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3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3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3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3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24"/>
            <a:ext cx="9144000" cy="6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Hands-on Experience (22CS422)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the Robustness of Lightweight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Models to Label Noise</a:t>
            </a:r>
            <a:endParaRPr lang="en-IN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3C86E6-5A32-4B53-79EF-A14DB185E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858031"/>
              </p:ext>
            </p:extLst>
          </p:nvPr>
        </p:nvGraphicFramePr>
        <p:xfrm>
          <a:off x="1524000" y="2506407"/>
          <a:ext cx="6096000" cy="184518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75165753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57993355"/>
                    </a:ext>
                  </a:extLst>
                </a:gridCol>
              </a:tblGrid>
              <a:tr h="3690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194027"/>
                  </a:ext>
                </a:extLst>
              </a:tr>
              <a:tr h="3690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Divesh Gupta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2210990291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882169"/>
                  </a:ext>
                </a:extLst>
              </a:tr>
              <a:tr h="3690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Gagan Deep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2210990310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755869"/>
                  </a:ext>
                </a:extLst>
              </a:tr>
              <a:tr h="3690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Garima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2210900313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10108"/>
                  </a:ext>
                </a:extLst>
              </a:tr>
              <a:tr h="3690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Gurnoor Dhaliwal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2210990344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435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AD3A1DF-EB4B-A440-6CC2-7F732BAA2ABC}"/>
              </a:ext>
            </a:extLst>
          </p:cNvPr>
          <p:cNvSpPr txBox="1"/>
          <p:nvPr/>
        </p:nvSpPr>
        <p:spPr>
          <a:xfrm>
            <a:off x="1706472" y="4788309"/>
            <a:ext cx="573105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Shikha Tuteja</a:t>
            </a:r>
          </a:p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</a:p>
          <a:p>
            <a:pPr algn="ctr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CAD8-E1E9-05EB-DE0E-5A4288FF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696FF-B9C5-B56A-9A1B-50DCA99CA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- Research Gap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- Significance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17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71500" y="2266950"/>
            <a:ext cx="560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278100" y="1536189"/>
            <a:ext cx="8587800" cy="480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 of Data is Imperfect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trained on the assumption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perfectly labeled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in reality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assumption is almost never true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are collected through: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Label Noise?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Noise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incorrect or corrupted class labels present in training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feature noise — label noise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corrupts the target signal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causes models to: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becomes even more critical in: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🏥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wrong diagnosis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incorrect risk assessments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flawed automated decisions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Data Science">
            <a:extLst>
              <a:ext uri="{FF2B5EF4-FFF2-40B4-BE49-F238E27FC236}">
                <a16:creationId xmlns:a16="http://schemas.microsoft.com/office/drawing/2014/main" id="{86CC1CD3-7EEA-EFA7-7CAD-A393FB629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379"/>
          <a:stretch>
            <a:fillRect/>
          </a:stretch>
        </p:blipFill>
        <p:spPr>
          <a:xfrm>
            <a:off x="6310072" y="4636599"/>
            <a:ext cx="2619375" cy="1700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0" y="0"/>
            <a:ext cx="49497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848631" y="2907594"/>
            <a:ext cx="18258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7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Symmetric Noise</a:t>
            </a:r>
            <a:endParaRPr sz="1018"/>
          </a:p>
        </p:txBody>
      </p:sp>
      <p:sp>
        <p:nvSpPr>
          <p:cNvPr id="100" name="Google Shape;100;p16"/>
          <p:cNvSpPr txBox="1"/>
          <p:nvPr/>
        </p:nvSpPr>
        <p:spPr>
          <a:xfrm>
            <a:off x="848631" y="3503422"/>
            <a:ext cx="3325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Class labels are flipped randomly with uniform probability. Represents random corruption across all classes.</a:t>
            </a:r>
            <a:endParaRPr sz="1018"/>
          </a:p>
        </p:txBody>
      </p:sp>
      <p:sp>
        <p:nvSpPr>
          <p:cNvPr id="101" name="Google Shape;101;p16"/>
          <p:cNvSpPr txBox="1"/>
          <p:nvPr/>
        </p:nvSpPr>
        <p:spPr>
          <a:xfrm>
            <a:off x="5005597" y="2907594"/>
            <a:ext cx="19641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7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Asymmetric Noise</a:t>
            </a:r>
            <a:endParaRPr sz="1018"/>
          </a:p>
        </p:txBody>
      </p:sp>
      <p:sp>
        <p:nvSpPr>
          <p:cNvPr id="102" name="Google Shape;102;p16"/>
          <p:cNvSpPr txBox="1"/>
          <p:nvPr/>
        </p:nvSpPr>
        <p:spPr>
          <a:xfrm>
            <a:off x="5005597" y="3503422"/>
            <a:ext cx="3325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Directional or class-dependent corruption. Labels change from one specific class to another, mimicking realistic annotation bias.</a:t>
            </a:r>
            <a:endParaRPr sz="1018"/>
          </a:p>
        </p:txBody>
      </p:sp>
      <p:sp>
        <p:nvSpPr>
          <p:cNvPr id="103" name="Google Shape;103;p16"/>
          <p:cNvSpPr txBox="1"/>
          <p:nvPr/>
        </p:nvSpPr>
        <p:spPr>
          <a:xfrm>
            <a:off x="447368" y="180314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Problem </a:t>
            </a:r>
            <a: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Statement</a:t>
            </a:r>
            <a:r>
              <a:rPr lang="en-I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 - Research Gap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F6C30DD-F5C7-39CF-0CEF-12B52AE2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62" y="837600"/>
            <a:ext cx="873860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on label noise robustness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mostly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dataset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covering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noise types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diverse classical models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an important and practical research gap:</a:t>
            </a:r>
          </a:p>
          <a:p>
            <a:pPr algn="r"/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classical ML model remains most robust when training labels are corrupted?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robustness depend on the type of noise or the dataset used?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4F448-BB24-EF7B-6FF2-C34C7572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69" y="4343889"/>
            <a:ext cx="2319662" cy="2233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9DFF-4520-34B8-D38F-E8916B60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537B1-ABB2-0434-5595-2409007CE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069" y="2994022"/>
            <a:ext cx="8229240" cy="39772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design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robustness evaluation framework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classical ML models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covering diverse learning paradigms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types of label noise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Symmetric and Asymmetric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noise levels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0%, 10%, 20%, and 30%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benchmark datasets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contrasting characteristics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stratified cross-validation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reliable results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F1-score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relative degradation, and stability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A66E6-A69C-5706-07E1-91EECA37AD4E}"/>
              </a:ext>
            </a:extLst>
          </p:cNvPr>
          <p:cNvSpPr txBox="1"/>
          <p:nvPr/>
        </p:nvSpPr>
        <p:spPr>
          <a:xfrm>
            <a:off x="4311445" y="62722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EC557E-A0CA-5750-8A1D-6863772A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761"/>
          <a:stretch>
            <a:fillRect/>
          </a:stretch>
        </p:blipFill>
        <p:spPr>
          <a:xfrm>
            <a:off x="1740669" y="1268361"/>
            <a:ext cx="5486040" cy="114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2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E8EF-1070-874C-15C1-961797B2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5940A-C18D-544E-1BCE-1BFFE6871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380" y="2284558"/>
            <a:ext cx="8229240" cy="397728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contrasting datasets ensure findings are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dataset-specific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is injected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 training 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always done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test data</a:t>
            </a:r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EC2DDE-3A0D-9761-ED9E-31B3E3D0A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447617"/>
              </p:ext>
            </p:extLst>
          </p:nvPr>
        </p:nvGraphicFramePr>
        <p:xfrm>
          <a:off x="457380" y="1043039"/>
          <a:ext cx="8467164" cy="11125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053916">
                  <a:extLst>
                    <a:ext uri="{9D8B030D-6E8A-4147-A177-3AD203B41FA5}">
                      <a16:colId xmlns:a16="http://schemas.microsoft.com/office/drawing/2014/main" val="2823664203"/>
                    </a:ext>
                  </a:extLst>
                </a:gridCol>
                <a:gridCol w="1179666">
                  <a:extLst>
                    <a:ext uri="{9D8B030D-6E8A-4147-A177-3AD203B41FA5}">
                      <a16:colId xmlns:a16="http://schemas.microsoft.com/office/drawing/2014/main" val="1708558242"/>
                    </a:ext>
                  </a:extLst>
                </a:gridCol>
                <a:gridCol w="1051470">
                  <a:extLst>
                    <a:ext uri="{9D8B030D-6E8A-4147-A177-3AD203B41FA5}">
                      <a16:colId xmlns:a16="http://schemas.microsoft.com/office/drawing/2014/main" val="181307879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162429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Instances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Characteristics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385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Breast Cancer Wisconsin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Small, clean, numerical, balanced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60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Adult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48,842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Large, mixed features, imbalanced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10616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AD723A-CC06-A30D-2B0F-39B3BF063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90463"/>
              </p:ext>
            </p:extLst>
          </p:nvPr>
        </p:nvGraphicFramePr>
        <p:xfrm>
          <a:off x="457380" y="3665958"/>
          <a:ext cx="8467164" cy="2595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822388">
                  <a:extLst>
                    <a:ext uri="{9D8B030D-6E8A-4147-A177-3AD203B41FA5}">
                      <a16:colId xmlns:a16="http://schemas.microsoft.com/office/drawing/2014/main" val="4162245486"/>
                    </a:ext>
                  </a:extLst>
                </a:gridCol>
                <a:gridCol w="2822388">
                  <a:extLst>
                    <a:ext uri="{9D8B030D-6E8A-4147-A177-3AD203B41FA5}">
                      <a16:colId xmlns:a16="http://schemas.microsoft.com/office/drawing/2014/main" val="1673523150"/>
                    </a:ext>
                  </a:extLst>
                </a:gridCol>
                <a:gridCol w="2822388">
                  <a:extLst>
                    <a:ext uri="{9D8B030D-6E8A-4147-A177-3AD203B41FA5}">
                      <a16:colId xmlns:a16="http://schemas.microsoft.com/office/drawing/2014/main" val="3330326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Selected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05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baseline for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4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Known sensitivity to data changes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59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Aggregation for improved stability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0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tabular data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47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Instance-based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sensitive to noisy labels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763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Powerful modern tabular learner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0855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CE055-F6A9-ABF6-437F-77064878B14C}"/>
              </a:ext>
            </a:extLst>
          </p:cNvPr>
          <p:cNvSpPr txBox="1"/>
          <p:nvPr/>
        </p:nvSpPr>
        <p:spPr>
          <a:xfrm>
            <a:off x="4352544" y="639083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6608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3C6F-294A-B8A4-1361-55D6D0BB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CCB8A-FA84-63CA-11B7-6C7E051DE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and compare the robustness of six classical ML models under controlled symmetric and asymmetric label noise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performance degradation at increasing noise levels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impact of symmetric vs asymmetric noise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robust and most sensitive models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whether robustness patterns are consistent across datasets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accuracy alone is sufficient to measure robustness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practical guidance for model selection in noisy environments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9945A-2AD6-6BE9-729F-F0773556A83E}"/>
              </a:ext>
            </a:extLst>
          </p:cNvPr>
          <p:cNvSpPr txBox="1"/>
          <p:nvPr/>
        </p:nvSpPr>
        <p:spPr>
          <a:xfrm>
            <a:off x="4262284" y="62722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0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6752-502E-D3DC-912D-5C8D793E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D3A6A-5DDE-8872-B34E-4AE759BA6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707061"/>
            <a:ext cx="8013290" cy="3907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C1BEB4-1E09-2C06-981B-B4D8DDBB4BBD}"/>
              </a:ext>
            </a:extLst>
          </p:cNvPr>
          <p:cNvSpPr txBox="1"/>
          <p:nvPr/>
        </p:nvSpPr>
        <p:spPr>
          <a:xfrm>
            <a:off x="4252451" y="640723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187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8905-E9B9-FE2B-01EE-1F6C0E97C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64594" cy="914040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- Significance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F095-9055-6327-1364-D27B82792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722" y="914040"/>
            <a:ext cx="8229240" cy="397728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robust model under symmetric noise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6.5% drop on Breast Cancer, 1.1% drop on Adult Income at 30% noise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consistently the least robust model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drops exceeding 24% on both datasets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noise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destructive than asymmetric noise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degradation across all models and both datasets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most robust under asymmetric noise on Adult Income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2.0% relative drop — overtaking SVM in that specific setting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accuracy ≠ Robustness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best baseline but ranked lower than SVM in robustness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reveals hidden degradation better than accuracy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on imbalanced datasets like Adult Income</a:t>
            </a:r>
          </a:p>
          <a:p>
            <a:pPr marL="114300" indent="0">
              <a:buNone/>
            </a:pPr>
            <a:endParaRPr lang="en-US" sz="1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bridges the gap between theoretical robustness analysis and practical model selection in real-world noisy environments.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8E64B-8EA7-EBA3-1DBA-B2924F94230C}"/>
              </a:ext>
            </a:extLst>
          </p:cNvPr>
          <p:cNvSpPr txBox="1"/>
          <p:nvPr/>
        </p:nvSpPr>
        <p:spPr>
          <a:xfrm>
            <a:off x="4161503" y="6320654"/>
            <a:ext cx="472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4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0624-9CD3-8213-CD2F-4C15D56D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0D7-74D6-E56D-0041-429AB7AFD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Experimental Setup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injected only in training labels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kept completely clean throughout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Evaluation Metrics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F1-score, Relative Degradation, Fold-wise Variance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Stratified Cross Validation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reliable and stable performance measurement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Ranking Analysis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ranked by degradation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clean accuracy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90F3F-5FB8-D6EC-4ABC-17BDFFEF89CD}"/>
              </a:ext>
            </a:extLst>
          </p:cNvPr>
          <p:cNvSpPr txBox="1"/>
          <p:nvPr/>
        </p:nvSpPr>
        <p:spPr>
          <a:xfrm>
            <a:off x="4429433" y="63993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 descr="Key features - Free seo and web icons">
            <a:extLst>
              <a:ext uri="{FF2B5EF4-FFF2-40B4-BE49-F238E27FC236}">
                <a16:creationId xmlns:a16="http://schemas.microsoft.com/office/drawing/2014/main" id="{84889BF7-643C-D607-B5C4-DB70BE029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308" y="107678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52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1F7A-6FD2-2EE0-8510-9F92B9E3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244A5-79AD-5E24-213E-FE91D4E09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noise affects all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degradation varies significantly across model types, datasets, and noise types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the strongest and most consistent robustness under symmetric noise across both datasets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the most vulnerable model in nearly all experimental settings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is not universal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it depends on the interaction between model design, data characteristics, and noise type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is essential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accuracy alone is insufficient to capture the true impact of label noise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 evaluation is necessary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conclusions drawn from a single dataset may not generalize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EBB3F-8CEC-1945-487D-B63C4698CDC6}"/>
              </a:ext>
            </a:extLst>
          </p:cNvPr>
          <p:cNvSpPr txBox="1"/>
          <p:nvPr/>
        </p:nvSpPr>
        <p:spPr>
          <a:xfrm>
            <a:off x="4419600" y="62722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0844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830</Words>
  <Application>Microsoft Office PowerPoint</Application>
  <PresentationFormat>On-screen Show (4:3)</PresentationFormat>
  <Paragraphs>159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Lato</vt:lpstr>
      <vt:lpstr>Poppins</vt:lpstr>
      <vt:lpstr>Times New Roman</vt:lpstr>
      <vt:lpstr>Calibri</vt:lpstr>
      <vt:lpstr>Office Theme</vt:lpstr>
      <vt:lpstr>PowerPoint Presentation</vt:lpstr>
      <vt:lpstr>Content</vt:lpstr>
      <vt:lpstr>PowerPoint Presentation</vt:lpstr>
      <vt:lpstr>PowerPoint Presentation</vt:lpstr>
      <vt:lpstr>Approach</vt:lpstr>
      <vt:lpstr>Dataset / Models</vt:lpstr>
      <vt:lpstr>Objective</vt:lpstr>
      <vt:lpstr>Baseline</vt:lpstr>
      <vt:lpstr>Major Findings - Significance</vt:lpstr>
      <vt:lpstr>Key Features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Gurnoor Dhaliwal</dc:creator>
  <cp:lastModifiedBy>Gurnoor Dhaliwal</cp:lastModifiedBy>
  <cp:revision>10</cp:revision>
  <dcterms:modified xsi:type="dcterms:W3CDTF">2026-05-14T07:56:33Z</dcterms:modified>
</cp:coreProperties>
</file>