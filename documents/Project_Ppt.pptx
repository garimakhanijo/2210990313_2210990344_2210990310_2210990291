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81" r:id="rId3"/>
    <p:sldId id="257" r:id="rId4"/>
    <p:sldId id="258" r:id="rId5"/>
    <p:sldId id="282" r:id="rId6"/>
    <p:sldId id="283" r:id="rId7"/>
    <p:sldId id="284" r:id="rId8"/>
    <p:sldId id="288" r:id="rId9"/>
    <p:sldId id="285" r:id="rId10"/>
    <p:sldId id="286" r:id="rId11"/>
    <p:sldId id="287" r:id="rId12"/>
    <p:sldId id="280" r:id="rId13"/>
  </p:sldIdLst>
  <p:sldSz cx="9144000" cy="6858000" type="screen4x3"/>
  <p:notesSz cx="7559675" cy="10691813"/>
  <p:embeddedFontLst>
    <p:embeddedFont>
      <p:font typeface="Lato" panose="020F0502020204030203" pitchFamily="34" charset="0"/>
      <p:regular r:id="rId15"/>
      <p:bold r:id="rId16"/>
      <p:italic r:id="rId17"/>
      <p:boldItalic r:id="rId18"/>
    </p:embeddedFont>
    <p:embeddedFont>
      <p:font typeface="Poppins" panose="000005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rnoor Dhaliwal" userId="47788067e1523c2d" providerId="LiveId" clId="{66C39910-1B66-4ADF-BC8E-51CFCB6D71BA}"/>
    <pc:docChg chg="custSel modSld">
      <pc:chgData name="Gurnoor Dhaliwal" userId="47788067e1523c2d" providerId="LiveId" clId="{66C39910-1B66-4ADF-BC8E-51CFCB6D71BA}" dt="2026-04-29T04:42:36.671" v="14" actId="20577"/>
      <pc:docMkLst>
        <pc:docMk/>
      </pc:docMkLst>
      <pc:sldChg chg="modSp mod">
        <pc:chgData name="Gurnoor Dhaliwal" userId="47788067e1523c2d" providerId="LiveId" clId="{66C39910-1B66-4ADF-BC8E-51CFCB6D71BA}" dt="2026-04-29T04:42:36.671" v="14" actId="20577"/>
        <pc:sldMkLst>
          <pc:docMk/>
          <pc:sldMk cId="2594171622" sldId="281"/>
        </pc:sldMkLst>
        <pc:spChg chg="mod">
          <ac:chgData name="Gurnoor Dhaliwal" userId="47788067e1523c2d" providerId="LiveId" clId="{66C39910-1B66-4ADF-BC8E-51CFCB6D71BA}" dt="2026-04-29T04:42:36.671" v="14" actId="20577"/>
          <ac:spMkLst>
            <pc:docMk/>
            <pc:sldMk cId="2594171622" sldId="281"/>
            <ac:spMk id="3" creationId="{B89696FF-B9C5-B56A-9A1B-50DCA99CAB71}"/>
          </ac:spMkLst>
        </pc:spChg>
      </pc:sldChg>
      <pc:sldChg chg="modSp mod">
        <pc:chgData name="Gurnoor Dhaliwal" userId="47788067e1523c2d" providerId="LiveId" clId="{66C39910-1B66-4ADF-BC8E-51CFCB6D71BA}" dt="2026-04-28T18:04:06.899" v="4" actId="20577"/>
        <pc:sldMkLst>
          <pc:docMk/>
          <pc:sldMk cId="1946608677" sldId="283"/>
        </pc:sldMkLst>
        <pc:spChg chg="mod">
          <ac:chgData name="Gurnoor Dhaliwal" userId="47788067e1523c2d" providerId="LiveId" clId="{66C39910-1B66-4ADF-BC8E-51CFCB6D71BA}" dt="2026-04-28T18:04:06.899" v="4" actId="20577"/>
          <ac:spMkLst>
            <pc:docMk/>
            <pc:sldMk cId="1946608677" sldId="283"/>
            <ac:spMk id="3" creationId="{A945940A-C18D-544E-1BCE-1BFFE6871A4D}"/>
          </ac:spMkLst>
        </pc:spChg>
      </pc:sldChg>
      <pc:sldChg chg="modSp mod">
        <pc:chgData name="Gurnoor Dhaliwal" userId="47788067e1523c2d" providerId="LiveId" clId="{66C39910-1B66-4ADF-BC8E-51CFCB6D71BA}" dt="2026-04-28T18:01:29.688" v="0" actId="122"/>
        <pc:sldMkLst>
          <pc:docMk/>
          <pc:sldMk cId="330844300" sldId="287"/>
        </pc:sldMkLst>
        <pc:spChg chg="mod">
          <ac:chgData name="Gurnoor Dhaliwal" userId="47788067e1523c2d" providerId="LiveId" clId="{66C39910-1B66-4ADF-BC8E-51CFCB6D71BA}" dt="2026-04-28T18:01:29.688" v="0" actId="122"/>
          <ac:spMkLst>
            <pc:docMk/>
            <pc:sldMk cId="330844300" sldId="287"/>
            <ac:spMk id="2" creationId="{667B1F7A-6FD2-2EE0-8510-9F92B9E33F9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281488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" name="Google Shape;80;p1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:notes"/>
          <p:cNvSpPr txBox="1">
            <a:spLocks noGrp="1"/>
          </p:cNvSpPr>
          <p:nvPr>
            <p:ph type="sldNum" idx="12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82" name="Google Shape;82;p1:notes"/>
          <p:cNvSpPr txBox="1">
            <a:spLocks noGrp="1"/>
          </p:cNvSpPr>
          <p:nvPr>
            <p:ph type="ftr" idx="11"/>
          </p:nvPr>
        </p:nvSpPr>
        <p:spPr>
          <a:xfrm>
            <a:off x="0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Name of the faculty [Group: G00] [Sem:2nd]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67ccfa410_2_10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3e67ccfa410_2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:notes"/>
          <p:cNvSpPr txBox="1">
            <a:spLocks noGrp="1"/>
          </p:cNvSpPr>
          <p:nvPr>
            <p:ph type="body" idx="1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subTitle" idx="1"/>
          </p:nvPr>
        </p:nvSpPr>
        <p:spPr>
          <a:xfrm>
            <a:off x="0" y="0"/>
            <a:ext cx="5486040" cy="423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3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body" idx="3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3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body" idx="2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2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 txBox="1">
            <a:spLocks noGrp="1"/>
          </p:cNvSpPr>
          <p:nvPr>
            <p:ph type="body" idx="2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body" idx="3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body" idx="4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body" idx="2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body" idx="3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body" idx="4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5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body" idx="6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1"/>
          <p:cNvSpPr/>
          <p:nvPr/>
        </p:nvSpPr>
        <p:spPr>
          <a:xfrm rot="10800000" flipH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Google Shape;12;p1" descr="LOGO.gif"/>
          <p:cNvPicPr preferRelativeResize="0"/>
          <p:nvPr/>
        </p:nvPicPr>
        <p:blipFill rotWithShape="1">
          <a:blip r:embed="rId13">
            <a:alphaModFix/>
          </a:blip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 descr="LOGO.gif"/>
          <p:cNvPicPr preferRelativeResize="0"/>
          <p:nvPr/>
        </p:nvPicPr>
        <p:blipFill rotWithShape="1">
          <a:blip r:embed="rId13">
            <a:alphaModFix/>
          </a:blip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14;p1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5" name="Google Shape;15;p1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6" name="Google Shape;16;p1" descr="LOGO.gif"/>
            <p:cNvPicPr preferRelativeResize="0"/>
            <p:nvPr/>
          </p:nvPicPr>
          <p:blipFill rotWithShape="1">
            <a:blip r:embed="rId13">
              <a:alphaModFix/>
            </a:blip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1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8" name="Google Shape;18;p1" descr="logo.jp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1" descr="LOGO.gif"/>
          <p:cNvPicPr preferRelativeResize="0"/>
          <p:nvPr/>
        </p:nvPicPr>
        <p:blipFill rotWithShape="1">
          <a:blip r:embed="rId13">
            <a:alphaModFix/>
          </a:blip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oogle Shape;20;p1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21" name="Google Shape;21;p1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2" name="Google Shape;22;p1" descr="LOGO.gif"/>
            <p:cNvPicPr preferRelativeResize="0"/>
            <p:nvPr/>
          </p:nvPicPr>
          <p:blipFill rotWithShape="1">
            <a:blip r:embed="rId13">
              <a:alphaModFix/>
            </a:blip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Google Shape;23;p1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4" name="Google Shape;24;p1" descr="logo.jp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1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1"/>
          <p:cNvSpPr txBox="1"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" name="Google Shape;28;p1"/>
          <p:cNvSpPr txBox="1"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" name="Google Shape;29;p1"/>
          <p:cNvSpPr txBox="1"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4"/>
          <p:cNvSpPr txBox="1"/>
          <p:nvPr/>
        </p:nvSpPr>
        <p:spPr>
          <a:xfrm>
            <a:off x="0" y="840624"/>
            <a:ext cx="9144000" cy="60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Presentation of Industry Oriented Hands-on Experience (22CS422)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Evaluating the Robustness of Lightweight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Models to Label Noise</a:t>
            </a:r>
            <a:endParaRPr lang="en-IN" sz="20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33C86E6-5A32-4B53-79EF-A14DB185EE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858031"/>
              </p:ext>
            </p:extLst>
          </p:nvPr>
        </p:nvGraphicFramePr>
        <p:xfrm>
          <a:off x="1524000" y="2506407"/>
          <a:ext cx="6096000" cy="1845185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75165753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57993355"/>
                    </a:ext>
                  </a:extLst>
                </a:gridCol>
              </a:tblGrid>
              <a:tr h="36903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Roll No.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2194027"/>
                  </a:ext>
                </a:extLst>
              </a:tr>
              <a:tr h="36903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Divesh Gupta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2210990291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8882169"/>
                  </a:ext>
                </a:extLst>
              </a:tr>
              <a:tr h="36903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Gagan Deep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2210990310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755869"/>
                  </a:ext>
                </a:extLst>
              </a:tr>
              <a:tr h="36903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Garima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2210900313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5110108"/>
                  </a:ext>
                </a:extLst>
              </a:tr>
              <a:tr h="36903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Gurnoor Dhaliwal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2210990344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4355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AD3A1DF-EB4B-A440-6CC2-7F732BAA2ABC}"/>
              </a:ext>
            </a:extLst>
          </p:cNvPr>
          <p:cNvSpPr txBox="1"/>
          <p:nvPr/>
        </p:nvSpPr>
        <p:spPr>
          <a:xfrm>
            <a:off x="1706472" y="4788309"/>
            <a:ext cx="573105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 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Shikha Tuteja</a:t>
            </a:r>
          </a:p>
          <a:p>
            <a:pPr algn="ctr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Associate Professor </a:t>
            </a:r>
          </a:p>
          <a:p>
            <a:pPr algn="ctr"/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Chitkara University, Punjab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4CAD8-E1E9-05EB-DE0E-5A4288FF3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endParaRPr lang="en-IN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9696FF-B9C5-B56A-9A1B-50DCA99CAB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- Research Gap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Approach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/ Models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Findings - Significance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Features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4171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5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sz="40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571500" y="2266950"/>
            <a:ext cx="560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5"/>
          <p:cNvSpPr txBox="1"/>
          <p:nvPr/>
        </p:nvSpPr>
        <p:spPr>
          <a:xfrm>
            <a:off x="278100" y="1536189"/>
            <a:ext cx="8587800" cy="4801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World of Data is Imperfect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models are trained on the assumption that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perfectly labeled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in reality —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assumption is almost never true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Labels are collected through: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Label Noise?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Noise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refers to incorrect or corrupted class labels present in training data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Unlike feature noise — label noise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directly corrupts the target signal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causes models to: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problem becomes even more critical in: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🏥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Healthcare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wrong diagnosis predictions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💰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incorrect risk assessments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Systems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flawed automated decisions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/>
        </p:nvSpPr>
        <p:spPr>
          <a:xfrm>
            <a:off x="0" y="0"/>
            <a:ext cx="49497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" name="Google Shape;98;p16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" name="Google Shape;99;p16"/>
          <p:cNvSpPr txBox="1"/>
          <p:nvPr/>
        </p:nvSpPr>
        <p:spPr>
          <a:xfrm>
            <a:off x="848631" y="2907594"/>
            <a:ext cx="1825800" cy="2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27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Symmetric Noise</a:t>
            </a:r>
            <a:endParaRPr sz="1018"/>
          </a:p>
        </p:txBody>
      </p:sp>
      <p:sp>
        <p:nvSpPr>
          <p:cNvPr id="100" name="Google Shape;100;p16"/>
          <p:cNvSpPr txBox="1"/>
          <p:nvPr/>
        </p:nvSpPr>
        <p:spPr>
          <a:xfrm>
            <a:off x="848631" y="3503422"/>
            <a:ext cx="3325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Class labels are flipped randomly with uniform probability. Represents random corruption across all classes.</a:t>
            </a:r>
            <a:endParaRPr sz="1018"/>
          </a:p>
        </p:txBody>
      </p:sp>
      <p:sp>
        <p:nvSpPr>
          <p:cNvPr id="101" name="Google Shape;101;p16"/>
          <p:cNvSpPr txBox="1"/>
          <p:nvPr/>
        </p:nvSpPr>
        <p:spPr>
          <a:xfrm>
            <a:off x="5005597" y="2907594"/>
            <a:ext cx="1964100" cy="2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27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Asymmetric Noise</a:t>
            </a:r>
            <a:endParaRPr sz="1018"/>
          </a:p>
        </p:txBody>
      </p:sp>
      <p:sp>
        <p:nvSpPr>
          <p:cNvPr id="102" name="Google Shape;102;p16"/>
          <p:cNvSpPr txBox="1"/>
          <p:nvPr/>
        </p:nvSpPr>
        <p:spPr>
          <a:xfrm>
            <a:off x="5005597" y="3503422"/>
            <a:ext cx="3325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Directional or class-dependent corruption. Labels change from one specific class to another, mimicking realistic annotation bias.</a:t>
            </a:r>
            <a:endParaRPr sz="1018"/>
          </a:p>
        </p:txBody>
      </p:sp>
      <p:sp>
        <p:nvSpPr>
          <p:cNvPr id="103" name="Google Shape;103;p16"/>
          <p:cNvSpPr txBox="1"/>
          <p:nvPr/>
        </p:nvSpPr>
        <p:spPr>
          <a:xfrm>
            <a:off x="447368" y="180314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r>
              <a:rPr lang="en-IN" sz="3000" b="1" dirty="0">
                <a:latin typeface="Times New Roman"/>
                <a:ea typeface="Times New Roman"/>
                <a:cs typeface="Times New Roman"/>
                <a:sym typeface="Times New Roman"/>
              </a:rPr>
              <a:t>Problem </a:t>
            </a:r>
            <a:r>
              <a:rPr lang="en-IN" sz="2800" b="1" dirty="0">
                <a:latin typeface="Times New Roman"/>
                <a:ea typeface="Times New Roman"/>
                <a:cs typeface="Times New Roman"/>
                <a:sym typeface="Times New Roman"/>
              </a:rPr>
              <a:t>Statement</a:t>
            </a:r>
            <a:r>
              <a:rPr lang="en-IN" sz="3000" b="1" dirty="0">
                <a:latin typeface="Times New Roman"/>
                <a:ea typeface="Times New Roman"/>
                <a:cs typeface="Times New Roman"/>
                <a:sym typeface="Times New Roman"/>
              </a:rPr>
              <a:t> - Research Gap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3F6C30DD-F5C7-39CF-0CEF-12B52AE2D7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259" y="1249970"/>
            <a:ext cx="8903482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studies on label noise robustness are: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Focused mostly on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neural networks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to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dataset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evaluations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covering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noise types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simultaneously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comparative analysis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across diverse classical models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creates an important and practical research gap:</a:t>
            </a:r>
          </a:p>
          <a:p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classical ML model remains most robust when training labels are corrupted?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Does robustness depend on the type of noise or the dataset used?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79DFF-4520-34B8-D38F-E8916B60C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endParaRPr lang="en-IN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537B1-ABB2-0434-5595-2409007CE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design a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controlled robustness evaluation framework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that: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Tests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classical ML models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covering diverse learning paradigms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Injects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types of label noise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Symmetric and Asymmetric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Applies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noise levels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0%, 10%, 20%, and 30%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Evaluates on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benchmark datasets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contrasting characteristics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5-fold stratified cross-validation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reliable results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Measures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Accuracy, F1-score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relative degradation, and stability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7325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0E8EF-1070-874C-15C1-961797B2B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/ Models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45940A-C18D-544E-1BCE-1BFFE6871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380" y="2284558"/>
            <a:ext cx="8229240" cy="3977280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contrasting datasets ensure findings are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dataset-specific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Noise is injected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in training data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always done on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 test data</a:t>
            </a:r>
          </a:p>
          <a:p>
            <a:pPr marL="114300" indent="0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1EC2DDE-3A0D-9761-ED9E-31B3E3D0A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447617"/>
              </p:ext>
            </p:extLst>
          </p:nvPr>
        </p:nvGraphicFramePr>
        <p:xfrm>
          <a:off x="457380" y="1043039"/>
          <a:ext cx="8467164" cy="11125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3053916">
                  <a:extLst>
                    <a:ext uri="{9D8B030D-6E8A-4147-A177-3AD203B41FA5}">
                      <a16:colId xmlns:a16="http://schemas.microsoft.com/office/drawing/2014/main" val="2823664203"/>
                    </a:ext>
                  </a:extLst>
                </a:gridCol>
                <a:gridCol w="1179666">
                  <a:extLst>
                    <a:ext uri="{9D8B030D-6E8A-4147-A177-3AD203B41FA5}">
                      <a16:colId xmlns:a16="http://schemas.microsoft.com/office/drawing/2014/main" val="1708558242"/>
                    </a:ext>
                  </a:extLst>
                </a:gridCol>
                <a:gridCol w="1051470">
                  <a:extLst>
                    <a:ext uri="{9D8B030D-6E8A-4147-A177-3AD203B41FA5}">
                      <a16:colId xmlns:a16="http://schemas.microsoft.com/office/drawing/2014/main" val="181307879"/>
                    </a:ext>
                  </a:extLst>
                </a:gridCol>
                <a:gridCol w="3182112">
                  <a:extLst>
                    <a:ext uri="{9D8B030D-6E8A-4147-A177-3AD203B41FA5}">
                      <a16:colId xmlns:a16="http://schemas.microsoft.com/office/drawing/2014/main" val="1624296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Instances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Features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Characteristics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5385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Breast Cancer Wisconsin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569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Small, clean, numerical, balanced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7607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Adult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48,842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Large, mixed features, imbalanced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10616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DAD723A-CC06-A30D-2B0F-39B3BF063B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490463"/>
              </p:ext>
            </p:extLst>
          </p:nvPr>
        </p:nvGraphicFramePr>
        <p:xfrm>
          <a:off x="457380" y="3665958"/>
          <a:ext cx="8467164" cy="259588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822388">
                  <a:extLst>
                    <a:ext uri="{9D8B030D-6E8A-4147-A177-3AD203B41FA5}">
                      <a16:colId xmlns:a16="http://schemas.microsoft.com/office/drawing/2014/main" val="4162245486"/>
                    </a:ext>
                  </a:extLst>
                </a:gridCol>
                <a:gridCol w="2822388">
                  <a:extLst>
                    <a:ext uri="{9D8B030D-6E8A-4147-A177-3AD203B41FA5}">
                      <a16:colId xmlns:a16="http://schemas.microsoft.com/office/drawing/2014/main" val="1673523150"/>
                    </a:ext>
                  </a:extLst>
                </a:gridCol>
                <a:gridCol w="2822388">
                  <a:extLst>
                    <a:ext uri="{9D8B030D-6E8A-4147-A177-3AD203B41FA5}">
                      <a16:colId xmlns:a16="http://schemas.microsoft.com/office/drawing/2014/main" val="33303264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Category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Why Selected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05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Linear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Simple baseline for comparison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940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Tree-based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Known sensitivity to data changes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96593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Ensemble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Aggregation for improved stability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807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Margin-based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Strong tabular data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3472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Instance-based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Highly sensitive to noisy labels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763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LightGBM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Powerful modern tabular learner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40855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6608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13C6F-294A-B8A4-1361-55D6D0BBC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en-IN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ECCB8A-FA84-63CA-11B7-6C7E051D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Objective: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evaluate and compare the robustness of six classical ML models under controlled symmetric and asymmetric label noise</a:t>
            </a:r>
          </a:p>
          <a:p>
            <a:pPr marL="11430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Objectives: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 performance degradation at increasing noise levels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the impact of symmetric vs asymmetric noise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the most robust and most sensitive models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Examine whether robustness patterns are consistent across datasets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whether accuracy alone is sufficient to measure robustness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practical guidance for model selection in noisy environments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00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6752-502E-D3DC-912D-5C8D793E6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8D3A6A-5DDE-8872-B34E-4AE759BA6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1" y="1707061"/>
            <a:ext cx="8013290" cy="3907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875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B8905-E9B9-FE2B-01EE-1F6C0E97C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764594" cy="914040"/>
          </a:xfrm>
        </p:spPr>
        <p:txBody>
          <a:bodyPr/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Findings - Significance</a:t>
            </a:r>
            <a:endParaRPr lang="en-IN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CF095-9055-6327-1364-D27B82792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0722" y="914040"/>
            <a:ext cx="8229240" cy="3977280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SVM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most robust model under symmetric noise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6.5% drop on Breast Cancer, 1.1% drop on Adult Income at 30% noise</a:t>
            </a:r>
          </a:p>
          <a:p>
            <a:pPr marL="11430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consistently the least robust model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Relative drops exceeding 24% on both datasets</a:t>
            </a:r>
          </a:p>
          <a:p>
            <a:pPr marL="11430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Symmetric noise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more destructive than asymmetric noise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degradation across all models and both datasets</a:t>
            </a:r>
          </a:p>
          <a:p>
            <a:pPr marL="11430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KNN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becomes most robust under asymmetric noise on Adult Income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2.0% relative drop — overtaking SVM in that specific setting</a:t>
            </a:r>
          </a:p>
          <a:p>
            <a:pPr marL="11430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 accuracy ≠ Robustness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LightGBM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had best baseline but ranked lower than SVM in robustness</a:t>
            </a:r>
          </a:p>
          <a:p>
            <a:pPr marL="114300" indent="0"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F1-score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reveals hidden degradation better than accuracy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Especially on imbalanced datasets like Adult Income</a:t>
            </a:r>
          </a:p>
          <a:p>
            <a:pPr marL="114300" indent="0">
              <a:buNone/>
            </a:pPr>
            <a:endParaRPr lang="en-US" sz="1800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en-US" sz="1800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study bridges the gap between theoretical robustness analysis and practical model selection in real-world noisy environments.</a:t>
            </a:r>
            <a:endParaRPr lang="en-US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8743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D0624-9CD3-8213-CD2F-4C15D56D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Features</a:t>
            </a:r>
            <a:endParaRPr lang="en-IN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3110D7-74D6-E56D-0041-429AB7AFD4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Controlled Experimental Setup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Noise injected only in training labels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data kept completely clean throughout</a:t>
            </a:r>
          </a:p>
          <a:p>
            <a:pPr marL="11430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Comprehensive Evaluation Metrics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Accuracy, F1-score, Relative Degradation, Fold-wise Variance</a:t>
            </a:r>
          </a:p>
          <a:p>
            <a:pPr marL="11430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5-Fold Stratified Cross Validation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reliable and stable performance measurement</a:t>
            </a:r>
          </a:p>
          <a:p>
            <a:pPr marL="11430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Robustness Ranking Analysis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ranked by degradation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not just clean accuracy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652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B1F7A-6FD2-2EE0-8510-9F92B9E33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A244A5-79AD-5E24-213E-FE91D4E091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noise affects all models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but degradation varies significantly across model types, datasets, and noise types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demonstrated the strongest and most consistent robustness under symmetric noise across both datasets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was the most vulnerable model in nearly all experimental settings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Robustness is not universal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it depends on the interaction between model design, data characteristics, and noise type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F1-score is essential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accuracy alone is insufficient to capture the true impact of label noise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Cross-dataset evaluation is necessary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conclusions drawn from a single dataset may not generalize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844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8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 sz="54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0" name="Google Shape;270;p38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823</Words>
  <Application>Microsoft Office PowerPoint</Application>
  <PresentationFormat>On-screen Show (4:3)</PresentationFormat>
  <Paragraphs>152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Times New Roman</vt:lpstr>
      <vt:lpstr>Poppins</vt:lpstr>
      <vt:lpstr>Calibri</vt:lpstr>
      <vt:lpstr>Lato</vt:lpstr>
      <vt:lpstr>Arial</vt:lpstr>
      <vt:lpstr>Office Theme</vt:lpstr>
      <vt:lpstr>PowerPoint Presentation</vt:lpstr>
      <vt:lpstr>Content</vt:lpstr>
      <vt:lpstr>PowerPoint Presentation</vt:lpstr>
      <vt:lpstr>PowerPoint Presentation</vt:lpstr>
      <vt:lpstr>Approach</vt:lpstr>
      <vt:lpstr>Dataset / Models</vt:lpstr>
      <vt:lpstr>Objective</vt:lpstr>
      <vt:lpstr>Baseline</vt:lpstr>
      <vt:lpstr>Major Findings - Significance</vt:lpstr>
      <vt:lpstr>Key Features</vt:lpstr>
      <vt:lpstr>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Gurnoor Dhaliwal</dc:creator>
  <cp:lastModifiedBy>Gurnoor Dhaliwal</cp:lastModifiedBy>
  <cp:revision>8</cp:revision>
  <dcterms:modified xsi:type="dcterms:W3CDTF">2026-04-29T04:42:40Z</dcterms:modified>
</cp:coreProperties>
</file>